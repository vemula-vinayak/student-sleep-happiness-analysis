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5" r:id="rId4"/>
    <p:sldId id="258" r:id="rId5"/>
    <p:sldId id="259" r:id="rId6"/>
    <p:sldId id="267" r:id="rId7"/>
    <p:sldId id="260" r:id="rId8"/>
    <p:sldId id="271" r:id="rId9"/>
    <p:sldId id="261" r:id="rId10"/>
    <p:sldId id="270" r:id="rId11"/>
    <p:sldId id="262" r:id="rId12"/>
    <p:sldId id="269" r:id="rId13"/>
    <p:sldId id="263" r:id="rId14"/>
    <p:sldId id="264" r:id="rId15"/>
    <p:sldId id="27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179C2E-A7A9-4ABF-959A-B05CBC07D0AB}" v="95" dt="2025-04-23T04:41:16.164"/>
    <p1510:client id="{D8F7CECF-0C69-91AE-92B1-178E0CBE576B}" v="112" dt="2025-04-23T04:37:23.8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563565-71BC-49D9-8CFF-01F09B28B404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291FB5-6A5F-4F02-925C-5E3CEC4EC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43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91FB5-6A5F-4F02-925C-5E3CEC4EC4C8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325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/>
            <a:r>
              <a:rPr lang="en-US" sz="4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Road to Happiness with Data Science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Python For Data Science (CSIT 552) Final Project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Vinayak Vemula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April 2025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Group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232" y="1583297"/>
            <a:ext cx="8401430" cy="4364112"/>
          </a:xfrm>
        </p:spPr>
        <p:txBody>
          <a:bodyPr anchor="ctr">
            <a:normAutofit/>
          </a:bodyPr>
          <a:lstStyle/>
          <a:p>
            <a:endParaRPr lang="en-US" sz="2400">
              <a:ea typeface="Calibri"/>
              <a:cs typeface="Calibri"/>
            </a:endParaRPr>
          </a:p>
          <a:p>
            <a:r>
              <a:rPr lang="en-US" sz="2400">
                <a:ea typeface="+mn-lt"/>
                <a:cs typeface="+mn-lt"/>
              </a:rPr>
              <a:t>This project analyzes daily activity logs submitted by students to understand what makes people happy. Using the provided time-use and happiness data, we cleaned and organized entries across different days and individuals.</a:t>
            </a:r>
          </a:p>
          <a:p>
            <a:r>
              <a:rPr lang="en-US" sz="2400">
                <a:ea typeface="+mn-lt"/>
                <a:cs typeface="+mn-lt"/>
              </a:rPr>
              <a:t>The goal is to uncover patterns and routines shared among students that influence happiness.</a:t>
            </a:r>
            <a:endParaRPr lang="en-US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By transforming raw time data into structured insights, we use data science to explore human behavior.</a:t>
            </a:r>
            <a:endParaRPr lang="en-US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7BF30E-CE72-9ED7-1D66-168F0E376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  <a:ea typeface="Calibri"/>
                <a:cs typeface="Calibri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D3EBD-087F-780F-B5F1-0AFF96B1C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599" y="1594297"/>
            <a:ext cx="8448723" cy="47120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To discover how lifestyle choices like sleep, activity types, and screen time affect happiness.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>
                <a:ea typeface="+mn-lt"/>
                <a:cs typeface="+mn-lt"/>
              </a:rPr>
              <a:t>To evaluate hypotheses about morning routines, sleep duration, and electronics usage.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>
                <a:ea typeface="+mn-lt"/>
                <a:cs typeface="+mn-lt"/>
              </a:rPr>
              <a:t>To use visualizations and summary statistics to validate behavioral trends.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>
                <a:ea typeface="+mn-lt"/>
                <a:cs typeface="+mn-lt"/>
              </a:rPr>
              <a:t>Ultimately, to identify habits that contribute to higher happiness among students.</a:t>
            </a:r>
            <a:endParaRPr lang="en-US" sz="2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5355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899" y="1848297"/>
            <a:ext cx="8753523" cy="4369158"/>
          </a:xfrm>
        </p:spPr>
        <p:txBody>
          <a:bodyPr anchor="ctr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Processed multiple Excel sheets containing raw student logs.</a:t>
            </a:r>
          </a:p>
          <a:p>
            <a:r>
              <a:rPr lang="en-US" sz="2400">
                <a:ea typeface="+mn-lt"/>
                <a:cs typeface="+mn-lt"/>
              </a:rPr>
              <a:t>Standardized activity labels (e.g., "Netflix time" → "watching drama").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>
                <a:ea typeface="+mn-lt"/>
                <a:cs typeface="+mn-lt"/>
              </a:rPr>
              <a:t>Removed incomplete, duplicated, or invalid entries.</a:t>
            </a:r>
          </a:p>
          <a:p>
            <a:r>
              <a:rPr lang="en-US" sz="2400">
                <a:ea typeface="+mn-lt"/>
                <a:cs typeface="+mn-lt"/>
              </a:rPr>
              <a:t>Converted time and happiness fields into clean, usable formats.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Hypothesis 1: Sleep vs Happiness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999" y="1048197"/>
            <a:ext cx="8766223" cy="4419958"/>
          </a:xfrm>
        </p:spPr>
        <p:txBody>
          <a:bodyPr anchor="ctr">
            <a:normAutofit/>
          </a:bodyPr>
          <a:lstStyle/>
          <a:p>
            <a:endParaRPr lang="en-US" sz="2400">
              <a:ea typeface="Calibri"/>
              <a:cs typeface="Calibri"/>
            </a:endParaRPr>
          </a:p>
          <a:p>
            <a:r>
              <a:rPr lang="en-US" sz="2400">
                <a:ea typeface="+mn-lt"/>
                <a:cs typeface="+mn-lt"/>
              </a:rPr>
              <a:t>We extracted and summed sleep hours per day for each student.</a:t>
            </a:r>
          </a:p>
          <a:p>
            <a:r>
              <a:rPr lang="en-US" sz="2400">
                <a:ea typeface="+mn-lt"/>
                <a:cs typeface="+mn-lt"/>
              </a:rPr>
              <a:t>Visualization showed a positive trend between sleep and mood.</a:t>
            </a:r>
            <a:endParaRPr lang="en-US">
              <a:ea typeface="+mn-lt"/>
              <a:cs typeface="+mn-lt"/>
            </a:endParaRPr>
          </a:p>
          <a:p>
            <a:r>
              <a:rPr lang="en-US" sz="2400"/>
              <a:t>Observation: More sleep generally led to higher happiness scores.</a:t>
            </a:r>
            <a:endParaRPr lang="en-US" sz="24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34565B-7A28-E2DB-8AA9-C5CF46FFC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BA2E35-8BC2-5056-0604-3438AC562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1700980"/>
            <a:ext cx="2160621" cy="41380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Sleep </a:t>
            </a:r>
            <a:b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vs Happiness</a:t>
            </a:r>
            <a:b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Scatter plot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FA895B-C1E9-98D0-39BE-22B68CB606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6821" y="1429979"/>
            <a:ext cx="5419311" cy="44795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D14CB2C-81AD-1C9F-4127-E5435488604E}"/>
              </a:ext>
            </a:extLst>
          </p:cNvPr>
          <p:cNvSpPr txBox="1"/>
          <p:nvPr/>
        </p:nvSpPr>
        <p:spPr>
          <a:xfrm>
            <a:off x="3376821" y="1042828"/>
            <a:ext cx="4630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Scatter plot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980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Hypothesis 2: Morning vs Night People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1708597"/>
            <a:ext cx="7293023" cy="3683358"/>
          </a:xfrm>
        </p:spPr>
        <p:txBody>
          <a:bodyPr anchor="ctr">
            <a:normAutofit/>
          </a:bodyPr>
          <a:lstStyle/>
          <a:p>
            <a:endParaRPr lang="en-US" sz="2400">
              <a:ea typeface="Calibri"/>
              <a:cs typeface="Calibri"/>
            </a:endParaRPr>
          </a:p>
          <a:p>
            <a:r>
              <a:rPr lang="en-US" sz="2400">
                <a:ea typeface="+mn-lt"/>
                <a:cs typeface="+mn-lt"/>
              </a:rPr>
              <a:t>We classified activity times into morning vs night groups.</a:t>
            </a:r>
          </a:p>
          <a:p>
            <a:r>
              <a:rPr lang="en-US" sz="2400">
                <a:ea typeface="+mn-lt"/>
                <a:cs typeface="+mn-lt"/>
              </a:rPr>
              <a:t>Box plots showed morning activities had slightly higher happiness ratings.</a:t>
            </a:r>
          </a:p>
          <a:p>
            <a:r>
              <a:rPr lang="en-US" sz="2400"/>
              <a:t>Finding: Morning people reported slightly higher happiness.</a:t>
            </a:r>
            <a:endParaRPr lang="en-US" sz="24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724227-FC0D-28DA-9A3A-A3443AE3F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CDFE7AB-4E50-C1C7-A031-084351BF1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0A24D0D-12D4-E147-2AB1-AB5AF9DF7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8C5386-6BEC-8B4A-F759-1A9CA0B58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97F50FD-0E81-47B2-D97A-0536FAED8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9305153-FEF2-7C2C-B4B3-197181EC5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FECEAE0-A6AC-BAD2-651E-A66B5CAC9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533091-93EF-92A9-76C4-0B859A8C2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294969"/>
            <a:ext cx="2550475" cy="3991896"/>
          </a:xfrm>
        </p:spPr>
        <p:txBody>
          <a:bodyPr anchor="b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Morning</a:t>
            </a:r>
            <a:br>
              <a:rPr lang="en-US" sz="3500" dirty="0">
                <a:solidFill>
                  <a:srgbClr val="FFFFFF"/>
                </a:solidFill>
              </a:rPr>
            </a:br>
            <a:r>
              <a:rPr lang="en-US" sz="3500" dirty="0">
                <a:solidFill>
                  <a:srgbClr val="FFFFFF"/>
                </a:solidFill>
              </a:rPr>
              <a:t> vs </a:t>
            </a:r>
            <a:br>
              <a:rPr lang="en-US" sz="3500" dirty="0">
                <a:solidFill>
                  <a:srgbClr val="FFFFFF"/>
                </a:solidFill>
              </a:rPr>
            </a:br>
            <a:r>
              <a:rPr lang="en-US" sz="3500" dirty="0">
                <a:solidFill>
                  <a:srgbClr val="FFFFFF"/>
                </a:solidFill>
              </a:rPr>
              <a:t>Night People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ADAE5-4629-431B-5523-8164EA856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6295" y="649480"/>
            <a:ext cx="2268977" cy="5546047"/>
          </a:xfrm>
        </p:spPr>
        <p:txBody>
          <a:bodyPr anchor="ctr">
            <a:normAutofit/>
          </a:bodyPr>
          <a:lstStyle/>
          <a:p>
            <a:endParaRPr lang="en-US" sz="1700">
              <a:ea typeface="Calibri"/>
              <a:cs typeface="Calibri"/>
            </a:endParaRPr>
          </a:p>
          <a:p>
            <a:endParaRPr lang="en-US" sz="1700"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546B1F-8ADE-7B85-EBC4-B919DA51D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464" y="865548"/>
            <a:ext cx="5883150" cy="534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286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</a:rPr>
              <a:t>Hypothesis 3: Electronics vs Non-Electronics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0387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Hypothesis: Using phones and screens reduces happiness.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>
                <a:ea typeface="+mn-lt"/>
                <a:cs typeface="+mn-lt"/>
              </a:rPr>
              <a:t>Activities involving “phone”, “tablet”, or “Netflix” were flagged.</a:t>
            </a:r>
          </a:p>
          <a:p>
            <a:r>
              <a:rPr lang="en-US" sz="2400">
                <a:ea typeface="+mn-lt"/>
                <a:cs typeface="+mn-lt"/>
              </a:rPr>
              <a:t>Comparison showed lower happiness scores during electronic use.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>
                <a:ea typeface="+mn-lt"/>
                <a:cs typeface="+mn-lt"/>
              </a:rPr>
              <a:t>Insight: Excessive screen time may decrease mood.</a:t>
            </a:r>
          </a:p>
          <a:p>
            <a:pPr marL="0" indent="0">
              <a:buNone/>
            </a:pPr>
            <a:endParaRPr lang="en-US" sz="24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A70613-CB48-EA73-AA2F-D57A8B24F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F66F66-8522-EC37-4C4F-040C3C61E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4702900"/>
          </a:xfrm>
        </p:spPr>
        <p:txBody>
          <a:bodyPr anchor="b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 Electronics</a:t>
            </a:r>
            <a:br>
              <a:rPr lang="en-US" sz="3500" dirty="0">
                <a:solidFill>
                  <a:srgbClr val="FFFFFF"/>
                </a:solidFill>
              </a:rPr>
            </a:br>
            <a:br>
              <a:rPr lang="en-US" sz="3500" dirty="0">
                <a:solidFill>
                  <a:srgbClr val="FFFFFF"/>
                </a:solidFill>
              </a:rPr>
            </a:br>
            <a:r>
              <a:rPr lang="en-US" sz="3500" dirty="0">
                <a:solidFill>
                  <a:srgbClr val="FFFFFF"/>
                </a:solidFill>
              </a:rPr>
              <a:t> vs </a:t>
            </a:r>
            <a:br>
              <a:rPr lang="en-US" sz="3500" dirty="0">
                <a:solidFill>
                  <a:srgbClr val="FFFFFF"/>
                </a:solidFill>
              </a:rPr>
            </a:br>
            <a:br>
              <a:rPr lang="en-US" sz="3500" dirty="0">
                <a:solidFill>
                  <a:srgbClr val="FFFFFF"/>
                </a:solidFill>
              </a:rPr>
            </a:br>
            <a:r>
              <a:rPr lang="en-US" sz="3500" dirty="0">
                <a:solidFill>
                  <a:srgbClr val="FFFFFF"/>
                </a:solidFill>
              </a:rPr>
              <a:t>Non-Electronics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87BB2C94-05D4-FD57-4B77-25F21BAD7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6295" y="649480"/>
            <a:ext cx="226897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17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702241-D984-5304-EEA6-905D9A266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107" y="616351"/>
            <a:ext cx="5692851" cy="560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252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847493"/>
          </a:xfrm>
        </p:spPr>
        <p:txBody>
          <a:bodyPr anchor="b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Highest  And Lowest Happiness Activities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6BCF6C4C-0682-A5ED-F733-D118D74E7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6295" y="649480"/>
            <a:ext cx="2268977" cy="5546047"/>
          </a:xfrm>
        </p:spPr>
        <p:txBody>
          <a:bodyPr anchor="ctr">
            <a:normAutofit/>
          </a:bodyPr>
          <a:lstStyle/>
          <a:p>
            <a:endParaRPr lang="en-US" sz="17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FA4703-B08F-2589-21DB-9F01D52C8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652" y="442453"/>
            <a:ext cx="5879690" cy="30578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257436-ABCE-0742-6189-8C2BE6157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5652" y="3510426"/>
            <a:ext cx="5956062" cy="32348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B660FF-A31B-1AF6-301A-340383F44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205047-A1D7-EC0E-5930-222C6445E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294968"/>
            <a:ext cx="2550475" cy="5584721"/>
          </a:xfrm>
        </p:spPr>
        <p:txBody>
          <a:bodyPr anchor="b"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Average </a:t>
            </a:r>
            <a:r>
              <a:rPr lang="en-US" sz="2800" dirty="0" err="1">
                <a:solidFill>
                  <a:srgbClr val="FFFFFF"/>
                </a:solidFill>
              </a:rPr>
              <a:t>Happines</a:t>
            </a:r>
            <a:r>
              <a:rPr lang="en-US" sz="2800" dirty="0">
                <a:solidFill>
                  <a:srgbClr val="FFFFFF"/>
                </a:solidFill>
              </a:rPr>
              <a:t> by Day </a:t>
            </a:r>
            <a:br>
              <a:rPr lang="en-US" sz="2800" dirty="0">
                <a:solidFill>
                  <a:srgbClr val="FFFFFF"/>
                </a:solidFill>
              </a:rPr>
            </a:br>
            <a:br>
              <a:rPr lang="en-US" sz="2800" dirty="0">
                <a:solidFill>
                  <a:srgbClr val="FFFFFF"/>
                </a:solidFill>
              </a:rPr>
            </a:br>
            <a:r>
              <a:rPr lang="en-US" sz="2800" dirty="0">
                <a:solidFill>
                  <a:srgbClr val="FFFFFF"/>
                </a:solidFill>
              </a:rPr>
              <a:t>AND</a:t>
            </a:r>
            <a:br>
              <a:rPr lang="en-US" sz="2800" dirty="0">
                <a:solidFill>
                  <a:srgbClr val="FFFFFF"/>
                </a:solidFill>
              </a:rPr>
            </a:br>
            <a:br>
              <a:rPr lang="en-US" sz="2800" dirty="0">
                <a:solidFill>
                  <a:srgbClr val="FFFFFF"/>
                </a:solidFill>
              </a:rPr>
            </a:br>
            <a:r>
              <a:rPr lang="en-US" sz="2800" dirty="0">
                <a:solidFill>
                  <a:srgbClr val="FFFFFF"/>
                </a:solidFill>
              </a:rPr>
              <a:t>Average Sleep Hours By Day</a:t>
            </a:r>
            <a:br>
              <a:rPr lang="en-US" sz="3500" dirty="0">
                <a:solidFill>
                  <a:srgbClr val="FFFFFF"/>
                </a:solidFill>
              </a:rPr>
            </a:br>
            <a:endParaRPr lang="en-US" sz="3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9FC72-063C-3488-8643-3239AF65A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6295" y="649480"/>
            <a:ext cx="2268977" cy="5546047"/>
          </a:xfrm>
        </p:spPr>
        <p:txBody>
          <a:bodyPr anchor="ctr">
            <a:normAutofit/>
          </a:bodyPr>
          <a:lstStyle/>
          <a:p>
            <a:endParaRPr lang="en-US" sz="1700">
              <a:ea typeface="Calibri"/>
              <a:cs typeface="Calibri"/>
            </a:endParaRPr>
          </a:p>
          <a:p>
            <a:endParaRPr lang="en-US" sz="1700">
              <a:ea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C54C48-81B7-7615-1752-6EFC314B1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477" y="659623"/>
            <a:ext cx="5388078" cy="579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056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2199" y="21276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Sleep and morning routines tend to improve mood.</a:t>
            </a:r>
          </a:p>
          <a:p>
            <a:r>
              <a:rPr lang="en-US" sz="2400">
                <a:ea typeface="+mn-lt"/>
                <a:cs typeface="+mn-lt"/>
              </a:rPr>
              <a:t>Electronics use often correlates with lower happiness.</a:t>
            </a:r>
          </a:p>
          <a:p>
            <a:r>
              <a:rPr lang="en-US" sz="2400">
                <a:ea typeface="+mn-lt"/>
                <a:cs typeface="+mn-lt"/>
              </a:rPr>
              <a:t>Most students share common happiness patterns.</a:t>
            </a:r>
          </a:p>
          <a:p>
            <a:r>
              <a:rPr lang="en-US" sz="2400">
                <a:ea typeface="+mn-lt"/>
                <a:cs typeface="+mn-lt"/>
              </a:rPr>
              <a:t>Data science reveals powerful insights into everyday behavior.</a:t>
            </a:r>
          </a:p>
          <a:p>
            <a:pPr marL="0" indent="0">
              <a:buNone/>
            </a:pPr>
            <a:endParaRPr lang="en-US" sz="24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Contribution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1455175"/>
            <a:ext cx="7293023" cy="3588774"/>
          </a:xfrm>
        </p:spPr>
        <p:txBody>
          <a:bodyPr anchor="ctr">
            <a:normAutofit/>
          </a:bodyPr>
          <a:lstStyle/>
          <a:p>
            <a:endParaRPr lang="en-US" sz="1700" dirty="0"/>
          </a:p>
          <a:p>
            <a:r>
              <a:rPr lang="en-US" sz="2400" b="1" dirty="0"/>
              <a:t>Bhupathi Vishwanath : </a:t>
            </a:r>
            <a:r>
              <a:rPr lang="en-US" sz="2400" dirty="0"/>
              <a:t>Handled data extraction, cleaning, and activity normalization.</a:t>
            </a:r>
          </a:p>
          <a:p>
            <a:pPr marL="0" indent="0">
              <a:buNone/>
            </a:pPr>
            <a:endParaRPr lang="en-US" sz="1400" dirty="0"/>
          </a:p>
          <a:p>
            <a:r>
              <a:rPr lang="en-US" sz="2400" b="1" dirty="0"/>
              <a:t>Joana </a:t>
            </a:r>
            <a:r>
              <a:rPr lang="en-US" sz="2400" b="1" dirty="0" err="1"/>
              <a:t>Dervishaj</a:t>
            </a:r>
            <a:r>
              <a:rPr lang="en-US" sz="2400" b="1" dirty="0"/>
              <a:t> : </a:t>
            </a:r>
            <a:r>
              <a:rPr lang="en-US" sz="2400" dirty="0"/>
              <a:t>Developed hypotheses and performed data analysis.</a:t>
            </a:r>
          </a:p>
          <a:p>
            <a:pPr marL="0" indent="0">
              <a:buNone/>
            </a:pPr>
            <a:endParaRPr lang="en-US" sz="1400" dirty="0"/>
          </a:p>
          <a:p>
            <a:r>
              <a:rPr lang="en-US" sz="2400" b="1" dirty="0"/>
              <a:t>Vinayak Vemula : </a:t>
            </a:r>
            <a:r>
              <a:rPr lang="en-US" sz="2400" dirty="0"/>
              <a:t>Created visualizations and prepared the final presentation.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360415-1F0B-8862-2E93-8A31D838A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43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435</Words>
  <Application>Microsoft Office PowerPoint</Application>
  <PresentationFormat>On-screen Show (4:3)</PresentationFormat>
  <Paragraphs>54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Road to Happiness with Data Science</vt:lpstr>
      <vt:lpstr>Introduction</vt:lpstr>
      <vt:lpstr>Objective</vt:lpstr>
      <vt:lpstr>Data Cleaning</vt:lpstr>
      <vt:lpstr>Hypothesis 1: Sleep vs Happiness</vt:lpstr>
      <vt:lpstr>Sleep  vs Happiness Scatter plot </vt:lpstr>
      <vt:lpstr>Hypothesis 2: Morning vs Night People</vt:lpstr>
      <vt:lpstr>Morning  vs  Night People</vt:lpstr>
      <vt:lpstr>Hypothesis 3: Electronics vs Non-Electronics</vt:lpstr>
      <vt:lpstr> Electronics   vs   Non-Electronics</vt:lpstr>
      <vt:lpstr>Highest  And Lowest Happiness Activities</vt:lpstr>
      <vt:lpstr>Average Happines by Day   AND  Average Sleep Hours By Day </vt:lpstr>
      <vt:lpstr>Conclusion</vt:lpstr>
      <vt:lpstr>Contribution Statement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bhupathi vishwanath</dc:creator>
  <cp:keywords/>
  <dc:description>generated using python-pptx</dc:description>
  <cp:lastModifiedBy>Vinayak Vemula</cp:lastModifiedBy>
  <cp:revision>4</cp:revision>
  <dcterms:created xsi:type="dcterms:W3CDTF">2013-01-27T09:14:16Z</dcterms:created>
  <dcterms:modified xsi:type="dcterms:W3CDTF">2025-04-24T00:49:10Z</dcterms:modified>
  <cp:category/>
</cp:coreProperties>
</file>